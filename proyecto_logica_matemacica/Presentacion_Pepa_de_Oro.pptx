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Soy Geovanny Farías. Mi proyecto es el tema 7, presupuesto y logística de un envío internacional, y lo apliqué a un caso de mi provincia: la exportación de cacao fino de aroma desde Esmeraldas. Construí una herramienta web que se llama Pepa de Oro, que es como se le dice al cacao ecuatoriano. Voy a explicar primero la lógica, después las ecuaciones, y al final les muestro la herramienta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real: las asociaciones deciden a ojo. Definí tres variables. p y q son proposiciones, o sea que solo pueden ser verdaderas o falsas, y por eso son las que entran en la tabla de verdad. r es numérica: alimenta el valor de la carga y el número de contenedores. La regla dice que la ruta rápida se aprueba solo si el envío es urgente Y el presupuesto no está excedido. Con dos proposiciones hay cuatro combinaciones posibles, y como ven en la tabla, una sola aprueba: cuando p es verdadera y q es falsa. Para validar la regla usé Modus Ponens, cuya forma es una tautología, así que si las premisas son verdaderas la conclusión no puede ser falsa.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cosas resuelvo con álgebra. Primero, cómo reparto el presupuesto de cada envío: un sistema de dos ecuaciones con dos incógnitas, transporte y seguro. Lo resolví por sustitución y lo comprobé en las dos ecuaciones: 2 800 de transporte y 700 de seguro. Segundo, cuántos contenedores conviene exportar al mes. Ahí el supuesto es que comprar más cacao lo encarece, porque toca ir a fincas más lejanas: el precio sube 100 dólares por tonelada por cada contenedor. Al multiplicar los contenedores por ese precio aparece el x cuadrado solo, no lo inventé. La parábola abre hacia abajo, o sea que tiene un máximo. El vértice cae en 4.71, pero contenedores fraccionarios no existen, así que evalué 4 y 5: gana 5, con 35 250 dólares al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esto no se queda en el papel: lo programé en una página web. El usuario elige su provincia, cuánto cacao tiene, a qué país lo manda y cómo lo transporta, y la página le devuelve esta marca de embarque, que es el formato que se usa en el oficio: puerto de salida, puerto de llegada, peso, bultos, vía, días y costo. Ahí también están las conversiones entre sistema internacional e imperial, y usé el quintal porque es la unidad con la que un productor realmente piensa. Todos los datos tienen fuente: Anecacao, el Ministerio de Agricultura, el índice Drewry. La conclusión es que conviene exportar 5 contenedores al mes. Ahora se los muestro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PONTIFICIA UNIVERSIDAD CATÓLICA DEL ECUADOR · SEDE ESMERALDAS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PUCETEC · TECNOLOGÍA EN DESARROLLO DE SOFTWARE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840480" cy="0"/>
          </a:xfrm>
          <a:prstGeom prst="line">
            <a:avLst/>
          </a:prstGeom>
          <a:noFill/>
          <a:ln w="25400">
            <a:solidFill>
              <a:srgbClr val="B87A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INTEGRADOR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D8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logística de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D8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envío internacional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aplicado: exportación de cacao fino de aroma desde Esmeraldas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052560" y="2468880"/>
            <a:ext cx="2331720" cy="1737360"/>
          </a:xfrm>
          <a:prstGeom prst="rect">
            <a:avLst/>
          </a:prstGeom>
          <a:solidFill>
            <a:srgbClr val="241505"/>
          </a:solidFill>
          <a:ln w="25400">
            <a:solidFill>
              <a:srgbClr val="B87A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2651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HERRAMIENTA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235440" y="290779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D8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PEPA</a:t>
            </a:r>
            <a:endParaRPr lang="en-US" sz="2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D8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ORO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235440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aplicación 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10561320" cy="0"/>
          </a:xfrm>
          <a:prstGeom prst="line">
            <a:avLst/>
          </a:prstGeom>
          <a:noFill/>
          <a:ln w="12700">
            <a:solidFill>
              <a:srgbClr val="4A3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20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5367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Geovanny Farías Estupiñán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5120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5367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Lógico-Matemáticas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5120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0" y="5367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Adrián Vargas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5120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PERÍODO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15400" y="5367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Nivel · 2026-1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6172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7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Esmeraldas, Ecuador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LÓGICA DEL 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CONVIENE LA RUTA RÁPIDA?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 REAL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asociaciones cacaoteras de Esmeraldas eligen sus rutas de exportación sin un criterio claro: pagan una ruta urgente que no necesitaban, o mueven la carga tan lento que el grano pierde calidad.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TRES VARIABLES DEL SISTEMA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02920" cy="658368"/>
          </a:xfrm>
          <a:prstGeom prst="rect">
            <a:avLst/>
          </a:prstGeom>
          <a:solidFill>
            <a:srgbClr val="B87A0F"/>
          </a:solidFill>
          <a:ln w="12700">
            <a:solidFill>
              <a:srgbClr val="B87A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3649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urgente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657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7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 multa o grano que se puede dañar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502920" cy="658368"/>
          </a:xfrm>
          <a:prstGeom prst="rect">
            <a:avLst/>
          </a:prstGeom>
          <a:solidFill>
            <a:srgbClr val="B87A0F"/>
          </a:solidFill>
          <a:ln w="12700">
            <a:solidFill>
              <a:srgbClr val="B87A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78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está excedido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7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pasa el techo asignado al lote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20056"/>
            <a:ext cx="502920" cy="658368"/>
          </a:xfrm>
          <a:prstGeom prst="rect">
            <a:avLst/>
          </a:prstGeom>
          <a:solidFill>
            <a:srgbClr val="B87A0F"/>
          </a:solidFill>
          <a:ln w="12700">
            <a:solidFill>
              <a:srgbClr val="B87A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0200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047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total de la carga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340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7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valor y cuántos contenedores hacen falta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508760"/>
            <a:ext cx="5303520" cy="4526280"/>
          </a:xfrm>
          <a:prstGeom prst="rect">
            <a:avLst/>
          </a:prstGeom>
          <a:solidFill>
            <a:srgbClr val="241505"/>
          </a:solidFill>
          <a:ln w="25400">
            <a:solidFill>
              <a:srgbClr val="B87A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REGLA DE DECISIÓN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p ∧ ¬q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83680" y="2578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lee: se aprueba la ruta rápida si el envío es urgente Y el presupuesto NO está excedido.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246120"/>
          <a:ext cx="31089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C7F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C7F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C7F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¬q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C7F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415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415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415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415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A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6D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7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05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982980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de las 4 combinaciones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posibles, solo esta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aprueba la ruta rápida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Inferencia válida · Modus Ponens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583680" y="5394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(p ∧ ¬q) → D    y ocurre    p ∧ ¬q    entonces    ∴ 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8368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7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forma [(A→B) ∧ A] → B es una tautología: siempre verdadera.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MODELO ALGEBRAICO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241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REPARTO EL DINERO Y CUÁNTO EXPORTO?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4960" cy="2148840"/>
          </a:xfrm>
          <a:prstGeom prst="rect">
            <a:avLst/>
          </a:prstGeom>
          <a:solidFill>
            <a:srgbClr val="F5F3EB"/>
          </a:solidFill>
          <a:ln w="12700">
            <a:solidFill>
              <a:srgbClr val="9C7F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2×2 · REPARTIR EL PRESUPUESTO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+ S = 3 500        T = transporte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4S               S = seguro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5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sustitución:  4S + S = 3 500  →  5S = 3 500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5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700          T = 4(700) = 2 800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2 800 + 700 = 3 500        ✓ 2 800 = 4 × 700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envío lleva $2 800 de transporte y $700 de seguro.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2468880"/>
          </a:xfrm>
          <a:prstGeom prst="rect">
            <a:avLst/>
          </a:prstGeom>
          <a:solidFill>
            <a:srgbClr val="F5F3EB"/>
          </a:solidFill>
          <a:ln w="12700">
            <a:solidFill>
              <a:srgbClr val="9C7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593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 DE UTILIDAD · CUÁNTO EXPORTAR AL 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Supuesto: comprar más cacao encarece el precio,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hay que ir a fincas más lejanas.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681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P(x) = 4 700 + 100x    (dólares por tonelada)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 = x · 25 · P(x) = 117 500x + 2 500x²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U(x) = −2 500x² + 23 550x − 20 000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669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x² no lo inventé: sale de multiplicar contenedores por un precio que depende de los contenedores.</a:t>
            </a:r>
            <a:endParaRPr lang="en-US" sz="1150" dirty="0"/>
          </a:p>
        </p:txBody>
      </p:sp>
      <p:pic>
        <p:nvPicPr>
          <p:cNvPr id="17" name="Image 0" descr="C:\Log.matematica.D.F\Logistica_Internacional_Proyecto_1S_LM_GL\proyecto_logica_matemacica\graficas_clase9\parte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81328"/>
            <a:ext cx="5303520" cy="32461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309360" y="4892040"/>
            <a:ext cx="1691640" cy="1371600"/>
          </a:xfrm>
          <a:prstGeom prst="rect">
            <a:avLst/>
          </a:prstGeom>
          <a:solidFill>
            <a:srgbClr val="F5F3EB"/>
          </a:solidFill>
          <a:ln w="12700">
            <a:solidFill>
              <a:srgbClr val="9C7F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5029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VÉRTICE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46520" y="5266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(4.71 ; $35 460)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46520" y="5760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más alto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10728" y="4892040"/>
            <a:ext cx="1691640" cy="1371600"/>
          </a:xfrm>
          <a:prstGeom prst="rect">
            <a:avLst/>
          </a:prstGeom>
          <a:solidFill>
            <a:srgbClr val="F5F3EB"/>
          </a:solidFill>
          <a:ln w="12700">
            <a:solidFill>
              <a:srgbClr val="9C7F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47888" y="5029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RAÍCES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47888" y="5266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  y  8.48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47888" y="5760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no gano ni pierdo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912096" y="4892040"/>
            <a:ext cx="1691640" cy="1371600"/>
          </a:xfrm>
          <a:prstGeom prst="rect">
            <a:avLst/>
          </a:prstGeom>
          <a:solidFill>
            <a:srgbClr val="241505"/>
          </a:solidFill>
          <a:ln w="25400">
            <a:solidFill>
              <a:srgbClr val="B87A0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49256" y="5029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ÓPTIMO REAL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049256" y="5266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contenedores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0049256" y="5760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$35 250 al mes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LA HERRAMIENTA Y EL RESULTADO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ESTO FUNCIONANDO EN UNA PÁGINA WEB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3246120"/>
          </a:xfrm>
          <a:prstGeom prst="roundRect">
            <a:avLst>
              <a:gd name="adj" fmla="val 1690"/>
            </a:avLst>
          </a:prstGeom>
          <a:solidFill>
            <a:srgbClr val="E8E6DC"/>
          </a:solidFill>
          <a:ln w="12700">
            <a:solidFill>
              <a:srgbClr val="9C7F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577840" cy="310896"/>
          </a:xfrm>
          <a:prstGeom prst="rect">
            <a:avLst/>
          </a:prstGeom>
          <a:solidFill>
            <a:srgbClr val="D6D0BE"/>
          </a:solidFill>
          <a:ln w="12700">
            <a:solidFill>
              <a:srgbClr val="9C7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pepa-de-oro · calculadora de exportación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2286000" cy="329184"/>
          </a:xfrm>
          <a:prstGeom prst="rect">
            <a:avLst/>
          </a:prstGeom>
          <a:solidFill>
            <a:srgbClr val="F5F3EB"/>
          </a:solidFill>
          <a:ln w="12700">
            <a:solidFill>
              <a:srgbClr val="D6D0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38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Provincia de origen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40864"/>
            <a:ext cx="2286000" cy="329184"/>
          </a:xfrm>
          <a:prstGeom prst="rect">
            <a:avLst/>
          </a:prstGeom>
          <a:solidFill>
            <a:srgbClr val="F5F3EB"/>
          </a:solidFill>
          <a:ln w="12700">
            <a:solidFill>
              <a:srgbClr val="D6D0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40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Cuánto cacao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2286000" cy="329184"/>
          </a:xfrm>
          <a:prstGeom prst="rect">
            <a:avLst/>
          </a:prstGeom>
          <a:solidFill>
            <a:srgbClr val="F5F3EB"/>
          </a:solidFill>
          <a:ln w="12700">
            <a:solidFill>
              <a:srgbClr val="D6D0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432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País de destino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145536"/>
            <a:ext cx="2286000" cy="329184"/>
          </a:xfrm>
          <a:prstGeom prst="rect">
            <a:avLst/>
          </a:prstGeom>
          <a:solidFill>
            <a:srgbClr val="F5F3EB"/>
          </a:solidFill>
          <a:ln w="12700">
            <a:solidFill>
              <a:srgbClr val="D6D0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455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Aire, mar o tierra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938528"/>
            <a:ext cx="2606040" cy="2514600"/>
          </a:xfrm>
          <a:prstGeom prst="rect">
            <a:avLst/>
          </a:prstGeom>
          <a:solidFill>
            <a:srgbClr val="241505"/>
          </a:solidFill>
          <a:ln w="25400">
            <a:solidFill>
              <a:srgbClr val="B87A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066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89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 DE EMBARQUE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56432" y="2286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GYE  →  RTM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456432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7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Guayaquil → Rotterdam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56432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 NETO      25 000 kg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BULTOS         1 × 25 t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VÍA            marítimo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TRÁNSITO       21.5 días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56432" y="3840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C7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TOTAL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56432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9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$6 452.00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7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resuelve el sistema, evalúa la función y aplica la regla lógica en vivo.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463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MEDIDAS Y CONVERSIONES DEL LOTE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755648"/>
            <a:ext cx="5120640" cy="1572768"/>
          </a:xfrm>
          <a:prstGeom prst="rect">
            <a:avLst/>
          </a:prstGeom>
          <a:solidFill>
            <a:srgbClr val="241505"/>
          </a:solidFill>
          <a:ln w="25400">
            <a:solidFill>
              <a:srgbClr val="B87A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193852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10 700 km × 0.621371 = 6 648.67 millas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25 000 kg × 2.20462  = 55 115.50 libras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25 000 kg ÷ 45.36    = 551 quintales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Seguro: 700 / 147 500 = 0.47 % del FOB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4015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C7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quintal (100 lb = 45.36 kg) es la unidad real con la que se comercia el cacao en Ecuador.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3931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7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REALES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4206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 $5 900/t (Anecacao) · Esmeraldas 58 965 t/año (MAG)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Flete 40' ≈ $2 286 (Drewry) · Arancel UE 0 % (Ac. Multipartes)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64240" cy="1051560"/>
          </a:xfrm>
          <a:prstGeom prst="rect">
            <a:avLst/>
          </a:prstGeom>
          <a:solidFill>
            <a:srgbClr val="B87A0F"/>
          </a:solidFill>
          <a:ln w="25400">
            <a:solidFill>
              <a:srgbClr val="D89A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49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415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5559552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1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Conviene exportar 5 contenedores al mes (125 toneladas)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22960" y="59710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dice CUÁNDO usar la ruta rápida · el sistema dice CÓMO repartir el dinero · la función dice CUÁNTO exportar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Pepa de Oro — Proyecto Integrador</dc:title>
  <dc:subject>PptxGenJS Presentation</dc:subject>
  <dc:creator>Geovanny Farías Estupiñán</dc:creator>
  <cp:lastModifiedBy>Geovanny Farías Estupiñán</cp:lastModifiedBy>
  <cp:revision>1</cp:revision>
  <dcterms:created xsi:type="dcterms:W3CDTF">2026-08-04T17:04:43Z</dcterms:created>
  <dcterms:modified xsi:type="dcterms:W3CDTF">2026-08-04T17:04:43Z</dcterms:modified>
</cp:coreProperties>
</file>